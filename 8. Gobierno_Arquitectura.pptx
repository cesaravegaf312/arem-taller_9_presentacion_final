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6"/>
    <p:sldId id="276" r:id="rId27"/>
    <p:sldId id="277" r:id="rId28"/>
    <p:sldId id="272" r:id="rId18"/>
    <p:sldId id="273" r:id="rId19"/>
    <p:sldId id="278" r:id="rId2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3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4" name="Shape 2"/>
          <p:cNvSpPr/>
          <p:nvPr/>
        </p:nvSpPr>
        <p:spPr>
          <a:xfrm>
            <a:off x="680314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0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6" name="Shape 4"/>
          <p:cNvSpPr/>
          <p:nvPr/>
        </p:nvSpPr>
        <p:spPr>
          <a:xfrm>
            <a:off x="11497666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8" name="Shape 6"/>
          <p:cNvSpPr/>
          <p:nvPr/>
        </p:nvSpPr>
        <p:spPr>
          <a:xfrm>
            <a:off x="680314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7666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MÓDULO 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74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caos a la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estratégica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Arquitectura Empresarial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34440" y="4206240"/>
            <a:ext cx="749808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2062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entender el gobierno como el conjunto de estructuras, principios y decisiones que mantienen coherente la arquitectura a lo largo del tiempo.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Profesor: Ing. César Augusto Vega Fernández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 del módulo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como habilitación, no como trámite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20240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2020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 entropía arquitectónica y el desvío del modelo antes de que sean irreversibles.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953512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53512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0540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principios y estándares que acoten la variabilidad sin frenar a los equipos.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986784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86784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" y="4123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0873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398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un método de decisión con criterios ponderados y momento responsable de decisión.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20056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20056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" y="5157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120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431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cada decisión estructural como ADR, con sus alternativas y consecuencias.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75320" y="1920240"/>
            <a:ext cx="3227832" cy="414223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· TALLER 9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251460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principios rectores del proyecto, con su implicación práctica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estándares: lenguaje, comunicación e infraestructura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ADR completos de decisiones críticas ya tomadas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métricas de gobierno y la gestión del cambio con las personas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EL PROBLEMA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amenaza silenciosa: entropía arquitectónica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tienden a la desorganización si nada los contiene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1920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mecanismos de gobierno, las decisiones individuales aisladas —cada una razonable por separado— generan inconsistencia y pérdida de control sobre la arquitectura global.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2651760"/>
            <a:ext cx="6949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5349240"/>
            <a:ext cx="5760720" cy="10973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508760" y="2926080"/>
            <a:ext cx="10973" cy="2423160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1508760" y="4983480"/>
            <a:ext cx="1394460" cy="251460"/>
          </a:xfrm>
          <a:prstGeom prst="line">
            <a:avLst/>
          </a:prstGeom>
          <a:noFill/>
          <a:ln w="31750">
            <a:solidFill>
              <a:srgbClr val="B85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903220" y="4526280"/>
            <a:ext cx="1115568" cy="457200"/>
          </a:xfrm>
          <a:prstGeom prst="line">
            <a:avLst/>
          </a:prstGeom>
          <a:noFill/>
          <a:ln w="31750">
            <a:solidFill>
              <a:srgbClr val="B85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018788" y="3977640"/>
            <a:ext cx="948233" cy="548640"/>
          </a:xfrm>
          <a:prstGeom prst="line">
            <a:avLst/>
          </a:prstGeom>
          <a:noFill/>
          <a:ln w="31750">
            <a:solidFill>
              <a:srgbClr val="B85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967021" y="3406140"/>
            <a:ext cx="892454" cy="571500"/>
          </a:xfrm>
          <a:prstGeom prst="line">
            <a:avLst/>
          </a:prstGeom>
          <a:noFill/>
          <a:ln w="31750">
            <a:solidFill>
              <a:srgbClr val="B85C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859475" y="3063240"/>
            <a:ext cx="669341" cy="342900"/>
          </a:xfrm>
          <a:prstGeom prst="line">
            <a:avLst/>
          </a:prstGeom>
          <a:noFill/>
          <a:ln w="31750">
            <a:solidFill>
              <a:srgbClr val="B85C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508760" y="4114800"/>
            <a:ext cx="5577840" cy="1234440"/>
          </a:xfrm>
          <a:prstGeom prst="line">
            <a:avLst/>
          </a:prstGeom>
          <a:noFill/>
          <a:ln w="31750">
            <a:solidFill>
              <a:srgbClr val="1627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gobierno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(sprawl tecnológico)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gobierno activo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402336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Complejidad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costo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063240" y="5559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/ crecimiento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63840" y="1920240"/>
            <a:ext cx="3639312" cy="19202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92440" y="2121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HAY QUE NOTAR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245059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curvas arrancan igual. La diferencia no aparece en el mes tres: aparece cuando el sistema ya creció y volver atrás cuesta un rediseño.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63840" y="4023360"/>
            <a:ext cx="3639312" cy="18288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4224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SÍNTOMAS TEMPRANOS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526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elige su propio stack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servicios resuelven lo mismo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por qué se eligió algo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dos sistemas propios cuesta como integrar uno externo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DOS FORMAS DEL MISMO PROBLEMA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monolito y la fragmentación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opuestos, misma causa raíz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3766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37667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monolito bancario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743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acoplamiento entre módulos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riesgosos: todo o nada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Cuellos de botella en el equipo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011680"/>
            <a:ext cx="53766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011680"/>
            <a:ext cx="5376672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fragmentación tecnológica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743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mal delimitados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estándares comunes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Sobreingeniería para el tamaño real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892040"/>
            <a:ext cx="10820095" cy="8686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48920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fallas rara vez son tecnológicas: son el resultado directo de decisiones estructurales mal fundamentadas.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5897880"/>
            <a:ext cx="10820095" cy="50292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589788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detallado de estos y otros antipatrones —síntoma, causa e impacto— se trabaja en el Módulo 9. Aquí interesan solo como evidencia del problema de gobierno.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TEMA ACTUAL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drift: el modelo se queda atrás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lo decide; simplemente pasa, y con agentes pasa más rápido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943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4709160"/>
            <a:ext cx="4754880" cy="10973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508760" y="2240280"/>
            <a:ext cx="10973" cy="2468880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1508760" y="2423160"/>
            <a:ext cx="4663440" cy="2240280"/>
          </a:xfrm>
          <a:prstGeom prst="line">
            <a:avLst/>
          </a:prstGeom>
          <a:noFill/>
          <a:ln w="31750">
            <a:solidFill>
              <a:srgbClr val="B85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508760" y="3977640"/>
            <a:ext cx="4663440" cy="685800"/>
          </a:xfrm>
          <a:prstGeom prst="line">
            <a:avLst/>
          </a:prstGeom>
          <a:noFill/>
          <a:ln w="31750">
            <a:solidFill>
              <a:srgbClr val="1627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7764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del código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del modelo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154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BRECHA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3429000"/>
            <a:ext cx="0" cy="548640"/>
          </a:xfrm>
          <a:prstGeom prst="line">
            <a:avLst/>
          </a:prstGeom>
          <a:noFill/>
          <a:ln w="15875">
            <a:solidFill>
              <a:srgbClr val="5A7189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303520" y="2606040"/>
            <a:ext cx="0" cy="457200"/>
          </a:xfrm>
          <a:prstGeom prst="line">
            <a:avLst/>
          </a:prstGeom>
          <a:noFill/>
          <a:ln w="15875">
            <a:solidFill>
              <a:srgbClr val="5A7189"/>
            </a:solidFill>
            <a:prstDash val="dash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971800" y="4800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9440" y="1965960"/>
            <a:ext cx="4553712" cy="1600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21671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CONSECUENCIA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48716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modelo deja de ser verdad, la única fuente de verdad que queda es el código. Razonar ahí es caro, lento, y solo lo puede hacer quien ya conoce el sistema.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949440" y="3749040"/>
            <a:ext cx="455371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78040" y="3950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SE ACELERÓ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251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de código producen cambios más rápido de lo que cualquier equipo alcanza a documentar. La brecha que antes tardaba años en abrirse hoy se abre en meses.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5349240"/>
            <a:ext cx="10820095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5349240"/>
            <a:ext cx="10271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contiene: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versionados junto al código, reglas estructurales verificadas automáticamente en cada integración, y decisiones registradas como ADR. Es decir: los cuatro pilares que vienen a continuación no son burocracia, son el mecanismo que mantiene el modelo vivo.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DEFINICIÓN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Gobierno: el puente entre la tecnología y el negocio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burocracia; es habilitación estructural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10820095" cy="10515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196596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estructuras organizacionales, principios, estándares y procesos diseñados para dirigir, controlar y evolucionar la arquitectura tecnológica.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329184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91840"/>
            <a:ext cx="50292" cy="14173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4930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Frena el sprawl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8587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la proliferación descontrolada y redundante de tecnologías.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329184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291840"/>
            <a:ext cx="50292" cy="14173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4930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costos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8587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la carga operativa de mantener sistemas huérfanos.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329184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3291840"/>
            <a:ext cx="50292" cy="14173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66760" y="34930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 escalabilidad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8587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bases sólidas para el crecimiento organizacional y técnico.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489204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892040"/>
            <a:ext cx="50292" cy="14173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0932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 la estrategia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54589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el desarrollo técnico anclado a los objetivos del negocio.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0" y="489204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4892040"/>
            <a:ext cx="50292" cy="14173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50932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trazables las decisiones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54589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que cada elección técnica quede informada y documentada.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92440" y="4892040"/>
            <a:ext cx="3410712" cy="1417320"/>
          </a:xfrm>
          <a:prstGeom prst="rect">
            <a:avLst/>
          </a:prstGeom>
          <a:solidFill>
            <a:srgbClr val="EFEDE3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489204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fundamentales limitan la variabilidad, y eso es justamente lo que permite decidir rápido dentro de un entorno controlado.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ESTRUCTURA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governance stack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estrategia a la ejecución, en cuatro niveles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315200" cy="914400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21396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organizacional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450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North Star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011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dónde va la organización. Lo define el negocio, no TI.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2944368"/>
            <a:ext cx="0" cy="118872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" y="3072384"/>
            <a:ext cx="7315200" cy="914400"/>
          </a:xfrm>
          <a:prstGeom prst="rect">
            <a:avLst/>
          </a:prstGeom>
          <a:solidFill>
            <a:srgbClr val="2C4A6B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8872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arquitectónicos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511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Boundaries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0723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pensamos. Reglas fundamentales que no dictan herramientas.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4005072"/>
            <a:ext cx="0" cy="118872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" y="4133088"/>
            <a:ext cx="7315200" cy="914400"/>
          </a:xfrm>
          <a:prstGeom prst="rect">
            <a:avLst/>
          </a:prstGeom>
          <a:solidFill>
            <a:srgbClr val="3D6285"/>
          </a:solidFill>
          <a:ln w="12700">
            <a:solidFill>
              <a:srgbClr val="3D62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17320" y="4261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tecnológicos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572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Approved Tools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41330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construimos. El catálogo permitido y soportado.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43400" y="5065776"/>
            <a:ext cx="0" cy="118872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5800" y="5193792"/>
            <a:ext cx="7315200" cy="914400"/>
          </a:xfrm>
          <a:prstGeom prst="rect">
            <a:avLst/>
          </a:prstGeom>
          <a:solidFill>
            <a:srgbClr val="4E7A9E"/>
          </a:solidFill>
          <a:ln w="12700">
            <a:solidFill>
              <a:srgbClr val="4E7A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45920" y="5321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arquitectónicas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5632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Output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519379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hicimos y por qué. El resultado, registrado como ADR.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49640" y="2011680"/>
            <a:ext cx="2953512" cy="1965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 DE LECTURA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2542032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restringe al de abajo. Un estándar que no responde a un principio, y un principio que no responde a la estrategia, son arbitrariedad.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9640" y="4160520"/>
            <a:ext cx="2953512" cy="201168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43616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 RÁPIDA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468172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un estándar de su proyecto y suban por la escalera: ¿de qué principio se desprende? ¿y ese principio de qué objetivo de negocio? Si la cadena se rompe, el estándar sobra.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EL MARCO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pilares del gobierno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sostiene la coherencia en el tiempo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103120"/>
            <a:ext cx="2560320" cy="457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brújula que guía las decisiones.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6968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pensamos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47288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2103120"/>
            <a:ext cx="2560320" cy="45720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0168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087368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648456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648456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juego tecnológico.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48456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67328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construimos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08776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8776" y="2103120"/>
            <a:ext cx="2560320" cy="4572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1656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4885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equilibrar la calidad.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9944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8816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sacrificamos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70264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0264" y="2103120"/>
            <a:ext cx="2560320" cy="457200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53144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61034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17143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9171432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corporativa y la trazabilidad.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171432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90304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decidimos y por qué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5577840"/>
            <a:ext cx="10820095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60120" y="55778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se necesitan mutuamente: principios sin estándares son retórica, estándares sin principios son arbitrariedad, y decisiones sin registro se pierden con la rotación del equipo.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PILAR 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arquitectónicos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fundamentales que no dictan qué herramienta usar, sino cómo pensar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6858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0292" cy="128016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157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4140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claro y memorable.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2148840"/>
            <a:ext cx="3291840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2148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First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383280"/>
            <a:ext cx="6858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383280"/>
            <a:ext cx="50292" cy="128016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529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DECLARACIÓN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7856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fundamental e innegociable.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3520440"/>
            <a:ext cx="3291840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funcionalidad se expone mediante una API, y el contrato se define antes del desarrollo.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754880"/>
            <a:ext cx="6858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754880"/>
            <a:ext cx="50292" cy="128016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901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IMPLICACIÓN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572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 nuestra forma de trabajar o de diseñar.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77640" y="4892040"/>
            <a:ext cx="3291840" cy="100584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de frontend y backend se desacoplan desde el día cero.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5280" y="2011680"/>
            <a:ext cx="3547872" cy="19202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83880" y="2212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 EJEMPLO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acoplamiento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28529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minimizar dependencias directas entre componentes.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si un servicio cae, el resto del ecosistema debe sobrevivir.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55280" y="4114800"/>
            <a:ext cx="3547872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83880" y="4315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SABER SI ESTÁ BIEN ESCRITO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principio bien redactado permite decir «no» a algo concreto. Si no descarta ninguna opción, es una frase bonita y no un principio.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PILAR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tecnológicos: el golden path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variabilidad innecesaria, no toda la variabilidad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tecnologías y prácticas permitidas y soportadas.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2907792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29077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290779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variabilidad innecesaria y el sprawl tecnológico.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3803904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3803904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380390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reúso de código y de componentes ya resueltos.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700016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" y="470001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194560" y="470001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rotación de personas y el onboarding de nuevos equipos.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2011680"/>
            <a:ext cx="53309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STACK APROBADO DE LA FINTECH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principal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con Spring Boot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2944368"/>
            <a:ext cx="4892040" cy="7315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para frontend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sobre Node.js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493008"/>
            <a:ext cx="4892040" cy="7315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0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síncrona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REST, para consultas de clientes interactivos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4041648"/>
            <a:ext cx="4892040" cy="7315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asíncrona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4206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Eventos, para integraciones entre sistemas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4590288"/>
            <a:ext cx="4892040" cy="7315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0" y="4754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778240" y="4754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Contenedores orquestados en nube pública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5138928"/>
            <a:ext cx="4892040" cy="7315"/>
          </a:xfrm>
          <a:prstGeom prst="rect">
            <a:avLst/>
          </a:prstGeom>
          <a:solidFill>
            <a:srgbClr val="C6C4B8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" y="5623560"/>
            <a:ext cx="10820095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56235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del estándar: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cerrado que no admite excepciones justificadas se convierte en el motivo por el que los equipos construyen por fuera del radar. El estándar debe tener una puerta, y la puerta es una ADR.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PILAR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 no se puede optimizar todo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trade-off es una decisión consciente de sacrificar un atributo por otro más crítico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63240" y="2267712"/>
            <a:ext cx="4754880" cy="45720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5974" y="2185416"/>
            <a:ext cx="201168" cy="201168"/>
          </a:xfrm>
          <a:prstGeom prst="ellipse">
            <a:avLst/>
          </a:prstGeom>
          <a:solidFill>
            <a:srgbClr val="162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63240" y="2926080"/>
            <a:ext cx="4754880" cy="45720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2843784"/>
            <a:ext cx="201168" cy="201168"/>
          </a:xfrm>
          <a:prstGeom prst="ellipse">
            <a:avLst/>
          </a:prstGeom>
          <a:solidFill>
            <a:srgbClr val="162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0100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63240" y="3584448"/>
            <a:ext cx="4754880" cy="45720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3502152"/>
            <a:ext cx="201168" cy="201168"/>
          </a:xfrm>
          <a:prstGeom prst="ellipse">
            <a:avLst/>
          </a:prstGeom>
          <a:solidFill>
            <a:srgbClr val="162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01000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123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63240" y="4242816"/>
            <a:ext cx="4754880" cy="45720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4160520"/>
            <a:ext cx="201168" cy="201168"/>
          </a:xfrm>
          <a:prstGeom prst="ellipse">
            <a:avLst/>
          </a:prstGeom>
          <a:solidFill>
            <a:srgbClr val="162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4123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operativa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846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pone la perilla en un punto distinto. Lo que no existe es la posición que satisface a los dos extremos a la vez.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5257800"/>
            <a:ext cx="10820095" cy="10972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54406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 EN ACCIÓN · CARRITO DE COMPRAS EN BLACK FRIDAY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71500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 — alta disponibilidad: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siempre puede agregar al carrito, aun con fallas internas. Sacrificio: consistencia eventual, el inventario puede estar desactualizado unos segundos.   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 — alta consistencia: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exacto al milisegundo, pero si la base se satura se pierden ventas.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MÉTODO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decide: el marco de ocho pasos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es una habilidad entrenable, no un talento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10820095" cy="777240"/>
          </a:xfrm>
          <a:prstGeom prst="rect">
            <a:avLst/>
          </a:prstGeom>
          <a:solidFill>
            <a:srgbClr val="EFEDE3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19202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«Perdemos 25 millones al año por malas prácticas de facturación»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frente a 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«Necesitamos un nuevo sistema de facturación»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solo el primero es un enunciado de problema; el segundo ya es una solución disfrazada.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92608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Enunciar el problema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términos de impacto, no de solución.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47288" y="292608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48456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48456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momento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648456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momento responsable para decidir.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08776" y="292608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criterios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Ponderados según lo que importa al negocio.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70264" y="292608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71432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71432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opciones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1432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una, no más de tres, alguna radicalmente distinta.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438912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" y="4517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consejo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86968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 sabe y a quien le afecta.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47288" y="438912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48456" y="4517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648456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trade-offs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648456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Puntuar cada opción contra cada criterio.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08776" y="438912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4517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409944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409944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comunicarlo con su razón.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70264" y="4389120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71432" y="4517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171432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171432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cuándo se vuelve a mirar la decisión.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60120" y="594360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2 es el que más cambia el resultado: decidir antes de tiempo cierra opciones que aún no hacía falta cerrar; decidir tarde deja al equipo bloqueado.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PILAR 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ADR: la memoria de la organización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· documentos cortos, decisiones grandes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240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 exacto que enfrentamos?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47288" y="2011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7288" y="201168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48456" y="2240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48456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opciones reales se evaluaron?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8776" y="2011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201168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9944" y="2240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camino elegimos y con base en qué trade-offs?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70264" y="2011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0264" y="201168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71432" y="2240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ganamos y qué deuda técnica aceptamos?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3749040"/>
            <a:ext cx="5376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463040" y="38953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Estados, no versiones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→ Aceptada → Reemplazada por ADR-00X. Una ADR nunca se edita para cambiarle el sentido.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3749040"/>
            <a:ext cx="5376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38953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borran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marcan como reemplazadas. El error también es parte de la historia del proyecto.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5074920"/>
            <a:ext cx="5376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239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463040" y="52212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 en el repositorio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1463040" y="55321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al código, no en una carpeta compartida que nadie abre.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0" y="5074920"/>
            <a:ext cx="5376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37960" y="5239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086600" y="52212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cuando duele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086600" y="55321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decisiones difíciles o costosas de revertir. Documentar todo equivale a no documentar nada.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EJEMPLO COMPLETO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ADR-004 · Adopción de eventos para facturación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 real del caso fintech, de principio a fin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CONTEXTO DEL PROBLEMA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2468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de órdenes llama al de facturación por REST síncrono.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picos de venta, si facturación se satura las órdenes fallan en cascada y se pierden ingresos.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519379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ALTERNATIVAS EVALUADAS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2468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verticalmente la base de datos — costoso y no resuelve el acoplamiento.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REST con circuit breakers — evita la caída total, pero se siguen perdiendo órdenes en el pico.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comunicación asíncrona por eventos — desacopla los sistemas.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069080"/>
            <a:ext cx="5349240" cy="13716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4251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DECISIÓN TOMADA · ACEPTADA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4572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bus de eventos. El servicio de órdenes publica el evento al ocurrir la venta y facturación lo consume a su propio ritmo.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4069080"/>
            <a:ext cx="51937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4251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CONSECUENCIAS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45262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en la ingesta de órdenes; si facturación cae, ninguna venta se pierde.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(−)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complejidad operativa y consistencia eventual: la factura tarda minutos en generarse.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577840"/>
            <a:ext cx="10820095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55778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buena a esta ADR no es la decisión: es que las dos alternativas descartadas están escritas con su razón. Dentro de dos años, quien pregunte por qué no se usaron circuit breakers va a encontrar la respuesta.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DOCUMENTACIÓN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documentar y qué no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exceso de documentación estática genera desuso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18288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 LO CONSTRUYERON EN EL TALLER 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24688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diagramas C4 de contexto y contenedores, con sus relaciones etiquetadas, ya existen. El gobierno no vuelve a explicarlos: define dónde viven, quién los revisa y cuándo se actualizan.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977640"/>
            <a:ext cx="50292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069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arquitectura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3251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contexto y contenedores. Cambian despacio, se mantienen a mano.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782312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782312"/>
            <a:ext cx="50292" cy="73152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4873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información críticos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51297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integraciones donde un fallo se propaga. Se mapean estrictamente.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5586984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586984"/>
            <a:ext cx="50292" cy="731520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56784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clave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59344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ADR. Son lo único que responde al porqué.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1965960"/>
            <a:ext cx="5193792" cy="21031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65392" y="2167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REGLA DEL FILTRO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565392" y="25146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 mano lo que cambia despacio; dejar que las herramientas generen lo que cambia rápido. Es la única forma de que la documentación siga siendo verdad.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251960"/>
            <a:ext cx="5193792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65392" y="4453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PRÁCTICAS DE GOBIERNO SOBRE LA DOCUMENTACIÓN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565392" y="480060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diagramas y las ADR viven en el repositorio, junto al código.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por Pull Request y alguien los revisa antes de fusionar.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estructural sin ADR no se aprueba.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GOBERNAR EN LA ERA DE LA IA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bien y contener lo que crece por fuera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frentes nuevos del gobierno arquitectónico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65960"/>
            <a:ext cx="534924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MEDIR · MÉTRICAS DORA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indicadores de desempeño de entrega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1832" y="2962656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16152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entrega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16152" y="3136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tarda un cambio en llegar a producción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1832" y="3529584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16152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despliegue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216152" y="3703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cuánto se despliega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1832" y="4096512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16152" y="4014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restauración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216152" y="4270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tarda en recuperarse de un fallo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1832" y="4663440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16152" y="4581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fallo del cambio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216152" y="48371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proporción de despliegues rompe algo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1832" y="5230368"/>
            <a:ext cx="128016" cy="128016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16152" y="5148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retrabajo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216152" y="54041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del trabajo se consume arreglando lo que ya se daba por terminado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1832" y="5806440"/>
            <a:ext cx="4846320" cy="41148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806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productividad por líneas de código generadas por IA es engañoso.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1965960"/>
            <a:ext cx="519379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965960"/>
            <a:ext cx="519379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CONTENER · SHADOW IT ACELERADA POR IA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565392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hoja de cálculo se vuelve un flujo agéntico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28346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bajó la barrera para que personas sin perfil técnico construyan sistemas complejos. Eso habilita experimentación real, pero también hace que procesos críticos empiecen a correr sobre flujos que nadie gobierna.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565392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DE GOBIERNO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43891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internos de prueba donde el uso se pueda rastrear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compartido de flujos ya construidos, para no duplicar esfuerzo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explícito para distinguir un flujo desechable de un proceso crítico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flujos que ganan tracción se reconstruyen como aplicaciones de verdad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MEDIR EL GOBIERNO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¿Funciona el gobierno? Tres métricas lo prueban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comité que se reúne cada mes no prueba nada; una métrica con umbral sí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65960"/>
            <a:ext cx="534924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CINCO CAMPOS DE UNA MÉTRICA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fórmula no se calcula; sin umbral no avisa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1832" y="2962656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16152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16152" y="3136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Atada a un principio: ¿se cumple de verdad?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1832" y="3529584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16152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216152" y="3703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se calcula, no «mejorar la integración»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1832" y="4096512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16152" y="4014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que ya existe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216152" y="4270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inventario o registro que el cliente ya tiene hoy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1832" y="4663440"/>
            <a:ext cx="128016" cy="128016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16152" y="4581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216152" y="48371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hoy, con los datos del AS-IS de los talleres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1832" y="5230368"/>
            <a:ext cx="128016" cy="128016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16152" y="5148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216152" y="54041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 partir del cual el comité tiene que actuar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1832" y="5806440"/>
            <a:ext cx="4846320" cy="41148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806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fuente no existe hoy, es un deseo con forma de fórmula.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1965960"/>
            <a:ext cx="519379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965960"/>
            <a:ext cx="519379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FARMAPP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565392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las tres mide al propio comité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28346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Integraciones por API (principio API First): integraciones por API versionada ÷ integraciones totales. Fuente: el C2 del Taller 3. Línea base: 2 de 5 = 40 %. Umbral: no sube 20 puntos en un semestre.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565392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TIEMPO DE DICTAMEN DEL COMITÉ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43891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días hábiles entre la propuesta de una ADR o excepción y su dictamen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 registro de ADR del procedimiento de cambios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más de 10 días hábiles; la línea base se mide desde la primera solicitud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comité tarda más que el negocio, los equipos construyen por fuera de él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GESTIÓN DEL CAMBIO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le cambia el trabajo a alguien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cambio con las personas · Paso 4.1 de la guía del Taller 9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3258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762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le cambia el trabajo?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5146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5 grupos. Siempre el grupo cuya tarea cambia o desaparece, no solo la dirección.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410712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410712"/>
            <a:ext cx="1051560" cy="13258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410712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B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57530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pierde o teme cada grupo?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91363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pierde algo, y eso es información: de ahí sale la resistencia esperada. Ubíquenlos en la rejilla de poder e interés.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809744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809744"/>
            <a:ext cx="1051560" cy="132588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809744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C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97433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y capacitar, con fecha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5312664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dos: comunicar sin capacitar deja a la gente sabiendo que algo cambia, pero sin saber hacerlo. Cada acción con fecha y responsable.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FARMAPP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Cajeros POS: temen que el inventario en línea los culpe de cada descuadre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Resistencia: seguir ajustando el stock a mano «por si acaso»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explicar el nuevo cierre de caja y 1 hora de capacitación antes del CDC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se lo dice, la desincronización vuelve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63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entrega: la tabla de grupos va dentro de plan-implementacion.md, no es un documento aparte.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· GESTIÓN DEL CAMBIO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resultado visible por fase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urgencia se construye con el primer resultado, no con un discurso de lanzamiento (adaptado de Kotter, 1996)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103120"/>
            <a:ext cx="2560320" cy="457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pago se procesa sin consentimiento registrado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6968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comprueba: Legal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47288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2103120"/>
            <a:ext cx="2560320" cy="45720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0168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087368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648456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 plazo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648456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pagos pasa la revisión de seguridad sin hallazgos altos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48456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67328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comprueba: Auditoría interna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08776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8776" y="2103120"/>
            <a:ext cx="2560320" cy="4572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1656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4885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Mediano plazo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Bajan los pedidos fallidos por falta de stock en horas pico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9944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8816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comprueba: Área comercial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70264" y="21031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0264" y="2103120"/>
            <a:ext cx="2560320" cy="457200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53144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61034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17143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 plazo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9171432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de un balanceador no detiene la venta en línea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171432" y="4434840"/>
            <a:ext cx="219456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90304" y="4434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comprueba: Operaciones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5577840"/>
            <a:ext cx="10820095" cy="7772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60120" y="55778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resultado lo comprueba alguien fuera de TI. Si el único que puede ver el avance es el equipo técnico, para el negocio no hubo avance. Ejemplo: FarmApp, guía del Taller 9.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· SÍNTESIS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es una capacidad organizacional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artefacto técnico: es un ecosistema vivo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103120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103120"/>
            <a:ext cx="345643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Arquitectos, desarrolladores e interesados del negocio. Sin liderazgo y disciplina, ningún marco funciona.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2103120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103120"/>
            <a:ext cx="345643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45152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ADR, revisiones, criterios de decisión. La fricción correcta, ni más ni menos.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2103120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103120"/>
            <a:ext cx="3456432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48472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Estándares, APIs, herramientas de verificación automática. El terreno de juego.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4709160"/>
            <a:ext cx="10820095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470916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la fricción correcta de los procesos, la contención de los estándares tecnológicos y, sobre todo, el liderazgo y la disciplina de las personas para mantener a raya la entropía.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5806440"/>
            <a:ext cx="10820095" cy="5486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" y="580644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también es parte de la arquitectura: la forma en que están divididos los equipos determina la forma que toma el sistema, aunque nadie toque el código.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· ACTIVIDAD 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plano a la construcción · Taller 9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en equipo, sobre el proyecto del cliente real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3258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762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tres principios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5146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Redáctenlos con nombre, declaración e implicación. Prueba de calidad: cada principio debe permitir decir «no» a algo concreto.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410712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410712"/>
            <a:ext cx="1051560" cy="13258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410712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57530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el catálogo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91363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Declaren explícitamente su stack aprobado: lenguaje y framework, tipo de comunicación e infraestructura. Y la razón de cada elección.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809744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809744"/>
            <a:ext cx="1051560" cy="132588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809744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97433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dos ADR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5312664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dos decisiones críticas ya tomadas en su proyecto y documéntenlas con las cuatro secciones, incluidas las alternativas descartadas.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que no descartan ninguna opción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sin razón declarada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sin alternativas descartadas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solo positivas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63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principios y estándares en plan-gobernanza.md; las dos ADR en procedimiento-cambios.md.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· ACTIVIDAD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y llevar a la gente · Taller 9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 en equipo, sobre el proyecto del cliente real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3258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762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métricas de gobierno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5146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principio, con fórmula, fuente que ya existe, línea base y umbral. Una de las tres mide al propio comité.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410712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410712"/>
            <a:ext cx="1051560" cy="13258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410712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57530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afectados por el plan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91363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5 grupos: qué pierden o temen, resistencia esperada, comunicación y capacitación con fecha y responsable.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809744"/>
            <a:ext cx="7589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809744"/>
            <a:ext cx="1051560" cy="132588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809744"/>
            <a:ext cx="1051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97433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resultado visible por fase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5312664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fase del plan de implementación: qué verá el negocio y quién lo comprueba fuera de TI.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sin umbral o sin fuente real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base inventada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genéricos («los usuarios»)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al grupo cuyo trabajo cambia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63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métricas en plan-gobernanza.md y gestión del cambio en plan-implementacion.md.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8 · Gobierno de Arquitectura Empresarial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30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en cuatro ideas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entropía es el estado natural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148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mecanismo que la contenga, todo sistema tiende a la inconsistencia.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habilita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acotan la variabilidad y por eso permiten decidir rápido.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03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es un método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033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pasos, criterios ponderados y un momento responsable para decidir.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80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no hay memoria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480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ADR son lo único que sobrevive a la rotación del equipo.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43000" y="5394960"/>
            <a:ext cx="694944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94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Taller 9 · principios, estándares, dos ADR, tres métricas y la gestión del cambio, sobre el cliente real.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66760" y="2148840"/>
            <a:ext cx="3136392" cy="3931920"/>
          </a:xfrm>
          <a:prstGeom prst="rect">
            <a:avLst/>
          </a:prstGeom>
          <a:solidFill>
            <a:srgbClr val="18304C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Standard — Architecture Governance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Nygard, M. — Documenting Architecture Decisions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MADR — adr.github.io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— dora.dev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Skelton &amp; Pais — Team Topologies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Kotter, J. — Leading Change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Ing. César Augusto Vega Fernández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8 - Gobierno de Arquitectura Empresarial</dc:title>
  <dc:subject>PptxGenJS Presentation</dc:subject>
  <dc:creator>César Augusto Vega Fernández</dc:creator>
  <cp:lastModifiedBy>César Augusto Vega Fernández</cp:lastModifiedBy>
  <cp:revision>1</cp:revision>
  <dcterms:created xsi:type="dcterms:W3CDTF">2026-08-29T02:46:14Z</dcterms:created>
  <dcterms:modified xsi:type="dcterms:W3CDTF">2026-08-29T02:46:14Z</dcterms:modified>
</cp:coreProperties>
</file>